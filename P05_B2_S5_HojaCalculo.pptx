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474720"/>
            <a:ext cx="9144000" cy="166878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365760"/>
            <a:ext cx="2011680" cy="411480"/>
          </a:xfrm>
          <a:prstGeom prst="roundRect">
            <a:avLst>
              <a:gd name="adj" fmla="val 17778"/>
            </a:avLst>
          </a:prstGeom>
          <a:solidFill>
            <a:srgbClr val="2D6A4F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36576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2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914400"/>
            <a:ext cx="82296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200" b="1" spc="5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Hoja de Cálculo</a:t>
            </a:r>
            <a:endParaRPr lang="en-US" sz="4200" dirty="0"/>
          </a:p>
          <a:p>
            <a:pPr algn="l" indent="0" marL="0">
              <a:buNone/>
            </a:pPr>
            <a:r>
              <a:rPr lang="en-US" sz="4200" b="1" spc="5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para Productores de Contenido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457200" y="3520440"/>
            <a:ext cx="82296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5 · 4 horas | Presupuestos, seguimiento y gestión de proyectos creativos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¿Por qué necesitas la hoja de cálculo en producción digital?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256032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914400"/>
            <a:ext cx="91440" cy="347472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097280"/>
            <a:ext cx="22860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2D6A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60%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548640" y="265176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proyectos creativos fracasan por mala gestión del presupuesto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548640" y="333756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sector creativo global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00400" y="914400"/>
            <a:ext cx="256032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0" y="914400"/>
            <a:ext cx="91440" cy="347472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11" name="Text 9"/>
          <p:cNvSpPr/>
          <p:nvPr/>
        </p:nvSpPr>
        <p:spPr>
          <a:xfrm>
            <a:off x="3383280" y="1097280"/>
            <a:ext cx="22860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1B4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40%</a:t>
            </a:r>
            <a:endParaRPr lang="en-US" sz="6000" dirty="0"/>
          </a:p>
        </p:txBody>
      </p:sp>
      <p:sp>
        <p:nvSpPr>
          <p:cNvPr id="12" name="Text 10"/>
          <p:cNvSpPr/>
          <p:nvPr/>
        </p:nvSpPr>
        <p:spPr>
          <a:xfrm>
            <a:off x="3291840" y="265176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tiempo se ahorra con seguimiento automatizado vs. manual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5943600" y="914400"/>
            <a:ext cx="256032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943600" y="914400"/>
            <a:ext cx="91440" cy="347472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15" name="Text 13"/>
          <p:cNvSpPr/>
          <p:nvPr/>
        </p:nvSpPr>
        <p:spPr>
          <a:xfrm>
            <a:off x="6126480" y="1097280"/>
            <a:ext cx="22860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2D6A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3x</a:t>
            </a:r>
            <a:endParaRPr lang="en-US" sz="6000" dirty="0"/>
          </a:p>
        </p:txBody>
      </p:sp>
      <p:sp>
        <p:nvSpPr>
          <p:cNvPr id="16" name="Text 14"/>
          <p:cNvSpPr/>
          <p:nvPr/>
        </p:nvSpPr>
        <p:spPr>
          <a:xfrm>
            <a:off x="6035040" y="265176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rápida la toma de decisiones con datos visualizados en gráficos</a:t>
            </a:r>
            <a:endParaRPr lang="en-US" sz="1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Estructura de la Hoja de Cálculo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804672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Celda</a:t>
            </a:r>
            <a:endParaRPr lang="en-US" sz="2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unidad básica. Tiene dirección única: A1, B3, D15. Todo comienza aquí.</a:t>
            </a:r>
            <a:endParaRPr lang="en-US" sz="2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2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Rango</a:t>
            </a:r>
            <a:endParaRPr lang="en-US" sz="2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de celdas seleccionadas: A1:D10. Esencial para fórmulas y formato.</a:t>
            </a:r>
            <a:endParaRPr lang="en-US" sz="2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2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Fórmula</a:t>
            </a:r>
            <a:endParaRPr lang="en-US" sz="2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Instrucción que calcula un resultado. Siempre empieza con = (igual).</a:t>
            </a:r>
            <a:endParaRPr lang="en-US" sz="2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2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Función</a:t>
            </a:r>
            <a:endParaRPr lang="en-US" sz="2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Fórmula predefinida para cálculos complejos: =SUMA(), =PROMEDIO(), =SI()</a:t>
            </a:r>
            <a:endParaRPr lang="en-US" sz="2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2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Hoja</a:t>
            </a:r>
            <a:endParaRPr lang="en-US" sz="2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Pestaña dentro del libro. Un proyecto puede tener varias hojas: Presupuesto, Seguimiento, Resumen.</a:t>
            </a:r>
            <a:endParaRPr lang="en-US" sz="2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2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Libro</a:t>
            </a:r>
            <a:endParaRPr lang="en-US" sz="2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archivo completo (.xlsx). Contiene una o varias hojas de cálculo.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Fórmulas y Funciones Esenciales para el Creador de Contenidos</a:t>
            </a:r>
            <a:endParaRPr lang="en-US" sz="2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914400"/>
          <a:ext cx="841248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2743200"/>
                <a:gridCol w="3474720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Función</a:t>
                      </a:r>
                      <a:endParaRPr lang="en-US" sz="16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Sintaxis</a:t>
                      </a:r>
                      <a:endParaRPr lang="en-US" sz="16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Uso en producción</a:t>
                      </a:r>
                      <a:endParaRPr lang="en-US" sz="16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SUMA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=SUMA(A1:A10)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de costos de un presupuesto de producción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PROMEDIO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=PROMEDIO(B1:B10)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Promedio de calificaciones o tiempos de entrega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=SI(C1&gt;5;'Al día';'Atrasado')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Alerta automática de estado de avance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CONTARA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=CONTARA(A1:A20)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Contar cuántas tareas tiene el proyecto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SUMAR.SI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=SUMAR.SI(A:A;'Video';B:B)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Subtotal por tipo de item en el presupuesto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 / MIN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=MAX(D1:D12)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Valor máximo o mínimo en un rango de datos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Formato Condicional — Visibilidad Instantánea del Estado del Proyecto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265176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60120"/>
            <a:ext cx="2651760" cy="54864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96012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🔴 ROJO — Alerta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502920" y="1600200"/>
            <a:ext cx="2377440" cy="2697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Presupuesto superado, tarea atrasada, calificación bajo el mínimo.</a:t>
            </a:r>
            <a:endParaRPr lang="en-US" sz="15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ojo lo ve de inmediato sin leer cada celda.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246120" y="960120"/>
            <a:ext cx="265176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46120" y="960120"/>
            <a:ext cx="2651760" cy="54864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10" name="Text 8"/>
          <p:cNvSpPr/>
          <p:nvPr/>
        </p:nvSpPr>
        <p:spPr>
          <a:xfrm>
            <a:off x="3337560" y="96012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🟡 AMARILLO — Precaución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3383280" y="1600200"/>
            <a:ext cx="2377440" cy="2697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Cerca del límite de presupuesto, entrega en riesgo.</a:t>
            </a:r>
            <a:endParaRPr lang="en-US" sz="15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Momento de tomar acción antes de que sea tarde.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126480" y="960120"/>
            <a:ext cx="265176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126480" y="960120"/>
            <a:ext cx="2651760" cy="54864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14" name="Text 12"/>
          <p:cNvSpPr/>
          <p:nvPr/>
        </p:nvSpPr>
        <p:spPr>
          <a:xfrm>
            <a:off x="6217920" y="96012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🟢 VERDE — OK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263640" y="1600200"/>
            <a:ext cx="2377440" cy="2697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Dentro del presupuesto, tarea completada, nota aprobada.</a:t>
            </a:r>
            <a:endParaRPr lang="en-US" sz="15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proyecto avanza según lo planeado.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⚡ Actividad — Presupuesto del Video (2 horas)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1097280" cy="109728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91440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A1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645920" y="96012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2 horas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645920" y="1325880"/>
            <a:ext cx="7132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4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Construir el presupuesto del video cuyo guion redactaste en la Sesión 4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548640" y="210312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Categorías: Preproducción / Producción / Posproducción / Distribución</a:t>
            </a:r>
            <a:endParaRPr lang="en-US" sz="1700" dirty="0"/>
          </a:p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Columnas: Concepto | Cantidad | Valor unitario | Subtotal | % del total</a:t>
            </a:r>
            <a:endParaRPr lang="en-US" sz="1700" dirty="0"/>
          </a:p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Aplicar fórmulas: SUMA para totales, porcentajes, y formato condicional para alertas de presupuesto</a:t>
            </a:r>
            <a:endParaRPr lang="en-US" sz="1700" dirty="0"/>
          </a:p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 un gráfico de torta que muestre la distribución del presupuesto por categoría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⚡ Actividad — Seguimiento Personal del Programa (1 hora)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1097280" cy="109728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91440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A2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645920" y="96012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1 hora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645920" y="1325880"/>
            <a:ext cx="7132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4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Crear tu hoja de seguimiento personal de avance en el programa técnico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548640" y="210312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Columnas: Bloque | Actividad | Fecha entrega | Nota | Estado (con formato condicional)</a:t>
            </a:r>
            <a:endParaRPr lang="en-US" sz="1700" dirty="0"/>
          </a:p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Fila de totales con PROMEDIO de notas y porcentaje de completitud</a:t>
            </a:r>
            <a:endParaRPr lang="en-US" sz="1700" dirty="0"/>
          </a:p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Formato condicional: verde (≥3.5), amarillo (3.0-3.4), rojo (&lt;3.0)</a:t>
            </a:r>
            <a:endParaRPr lang="en-US" sz="1700" dirty="0"/>
          </a:p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 hoja la usarás durante todo el año — guárdala en tu carpeta raíz del portafolio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566160"/>
            <a:ext cx="9144000" cy="157734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95D5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📋 Evidencias de Aprendizaje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188720"/>
            <a:ext cx="786384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Presupuesto del video con fórmulas, funciones y gráfico de distribución</a:t>
            </a:r>
            <a:endParaRPr lang="en-US" sz="2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Hoja de seguimiento personal del programa con formato condicional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3611880"/>
            <a:ext cx="8229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 — Técnico en Integración de Contenidos Digitales | Grado 10°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2026-02-21T20:16:50Z</dcterms:created>
  <dcterms:modified xsi:type="dcterms:W3CDTF">2026-02-21T20:16:50Z</dcterms:modified>
</cp:coreProperties>
</file>